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image" Target="../media/image-6-5.png"/><Relationship Id="rId7" Type="http://schemas.openxmlformats.org/officeDocument/2006/relationships/image" Target="../media/image-6-5.png"/><Relationship Id="rId8" Type="http://schemas.openxmlformats.org/officeDocument/2006/relationships/image" Target="../media/image-6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B1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572000"/>
            <a:ext cx="3840480" cy="384048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 •  B.TECH CSE (DATA SCIENCE)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Job Simulation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Deloitte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virtual experience in structured data analysis and forensic technology, completed via the Forage platform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25400">
            <a:solidFill>
              <a:srgbClr val="86BC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Rajat Kumar</a:t>
            </a:r>
            <a:pPr indent="0" marL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No. 2410031586   |   Batch 2024–28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Engineering, IILM University, Greater Noida, U.P.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24128"/>
            <a:ext cx="54864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5" name="Image 0" descr="icons_int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8022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554480"/>
            <a:ext cx="9692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is a cornerstone of decision-making across nearly every industry. Deloitte partnered with Forage to design a self-paced, guided Data Analytics Job Simulation for students and early-career professionals.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1546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33101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703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information systematically to surface meaningful patterns and trends.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31546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00800" y="33101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 Technology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0" y="3703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closer, scrutiny-based review to detect irregularities in records.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documents the general nature of the tasks involved and the professional context of such analytical work — focusing on conceptual and procedural understanding rather than any confidential client data.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24128"/>
            <a:ext cx="54864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657600" cy="4663440"/>
          </a:xfrm>
          <a:prstGeom prst="roundRect">
            <a:avLst>
              <a:gd name="adj" fmla="val 2500"/>
            </a:avLst>
          </a:prstGeom>
          <a:solidFill>
            <a:srgbClr val="1B1B1B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828800"/>
            <a:ext cx="868680" cy="86868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6" name="Image 0" descr="icons_org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417" y="20546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Deloitte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world’s largest professional services networks — audit, consulting, financial advisory, risk advisory, and tax services across the globe.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5669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www2.deloitte.com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17720" y="1746504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6916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public and private sector clients, including a significant share of large multinational organizations.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617720" y="2843784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278892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extensively with data — helping clients interpret performance, detect anomalies, and support strategic decisions through analytics.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617720" y="3941064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5" name="Text 12"/>
          <p:cNvSpPr/>
          <p:nvPr/>
        </p:nvSpPr>
        <p:spPr>
          <a:xfrm>
            <a:off x="4892040" y="388620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service offerings include forensic and investigative services that examine financial records and support risk and compliance functions.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617720" y="5038344"/>
            <a:ext cx="109728" cy="109728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7" name="Text 14"/>
          <p:cNvSpPr/>
          <p:nvPr/>
        </p:nvSpPr>
        <p:spPr>
          <a:xfrm>
            <a:off x="4892040" y="498348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self-paced virtual job simulations on Forage, giving students a realistic, non-confidential sense of practice-area tasks.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24128"/>
            <a:ext cx="54864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generate large volumes of data through daily operations, often holding insights that are not immediately visible. The broad problem addressed by this simulation was twofold: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2120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97480"/>
            <a:ext cx="685800" cy="68580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7" name="Image 0" descr="icons_proble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8757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69748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Challenge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52044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available information be examined systematically to identify meaningful patterns, trends, or outliers relevant to a business question?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2423160"/>
            <a:ext cx="52120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0" y="2697480"/>
            <a:ext cx="685800" cy="68580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12" name="Image 1" descr="icons_problem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108" y="287578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9748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 Technology Challenge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00800" y="352044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analytical techniques be applied to review records or information for irregularities that may warrant closer investigation?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as general problem framings consistent with the certificate’s stated task areas — not as descriptions of any specific confidential scenario or client situation.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24128"/>
            <a:ext cx="54864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45920"/>
            <a:ext cx="566928" cy="566928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6" name="Image 0" descr="icons_obj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17933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331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 analysis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a working understanding of how data analysis is approached in a professional consulting context.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645920"/>
            <a:ext cx="566928" cy="566928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11" name="Image 1" descr="icons_obj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01" y="17933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331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 technology principles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2834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general principles behind forensic technology and how it differs from routine analysis.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645920"/>
            <a:ext cx="566928" cy="566928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16" name="Image 2" descr="icons_obj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721" y="17933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3317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Repeatable workflow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8346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familiarity with a logical workflow — from understanding a task through to communicating findings.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491740" y="3977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20340" y="4206240"/>
            <a:ext cx="566928" cy="566928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21" name="Image 3" descr="icons_obj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741" y="435364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720340" y="4892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Transferable thinking skills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2720340" y="5394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foundational analytical thinking skills for academic projects and future professional roles.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195060" y="3977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23660" y="4206240"/>
            <a:ext cx="566928" cy="566928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26" name="Image 4" descr="icons_obj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061" y="4353641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23660" y="48920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documentation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423660" y="53949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Document, in an academically appropriate format, the learning outcomes as part of the B.Tech CSE requirement.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24128"/>
            <a:ext cx="54864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the two task areas confirmed on the certificate of completion: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technology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As a self-paced, guided virtual simulation, the program covered general analytical concepts and task-based exercises — while excluding direct client engagement.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Scope</a:t>
            </a:r>
            <a:endParaRPr lang="en-US" sz="1700" dirty="0"/>
          </a:p>
        </p:txBody>
      </p:sp>
      <p:pic>
        <p:nvPicPr>
          <p:cNvPr id="7" name="Image 0" descr="icons_scopey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1546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analytical concepts and task-based exercises</a:t>
            </a:r>
            <a:endParaRPr lang="en-US" sz="1200" dirty="0"/>
          </a:p>
        </p:txBody>
      </p:sp>
      <p:pic>
        <p:nvPicPr>
          <p:cNvPr id="9" name="Image 1" descr="icons_scopey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59352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86791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against example solutions on the platform</a:t>
            </a:r>
            <a:endParaRPr lang="en-US" sz="1200" dirty="0"/>
          </a:p>
        </p:txBody>
      </p:sp>
      <p:pic>
        <p:nvPicPr>
          <p:cNvPr id="11" name="Image 2" descr="icons_scopey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72584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458114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and skill-based understanding of the workflow</a:t>
            </a:r>
            <a:endParaRPr lang="en-US" sz="1200" dirty="0"/>
          </a:p>
        </p:txBody>
      </p:sp>
      <p:pic>
        <p:nvPicPr>
          <p:cNvPr id="13" name="Image 3" descr="icons_scopey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85816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529437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industry practices for data analytics and forensic review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6263640" y="251460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E4E4E1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653796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 Scope</a:t>
            </a:r>
            <a:endParaRPr lang="en-US" sz="1700" dirty="0"/>
          </a:p>
        </p:txBody>
      </p:sp>
      <p:pic>
        <p:nvPicPr>
          <p:cNvPr id="17" name="Image 4" descr="icons_scopen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24612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49440" y="31546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live or confidential Deloitte client data or systems</a:t>
            </a:r>
            <a:endParaRPr lang="en-US" sz="1200" dirty="0"/>
          </a:p>
        </p:txBody>
      </p:sp>
      <p:pic>
        <p:nvPicPr>
          <p:cNvPr id="19" name="Image 5" descr="icons_scopen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959352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49440" y="3867912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with actual Deloitte employees, teams, or supervisors</a:t>
            </a:r>
            <a:endParaRPr lang="en-US" sz="1200" dirty="0"/>
          </a:p>
        </p:txBody>
      </p:sp>
      <p:pic>
        <p:nvPicPr>
          <p:cNvPr id="21" name="Image 6" descr="icons_scopen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4672584"/>
            <a:ext cx="292608" cy="29260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49440" y="458114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of real client deliverables or business outcomes</a:t>
            </a:r>
            <a:endParaRPr lang="en-US" sz="1200" dirty="0"/>
          </a:p>
        </p:txBody>
      </p:sp>
      <p:pic>
        <p:nvPicPr>
          <p:cNvPr id="23" name="Image 7" descr="icons_scopen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5385816"/>
            <a:ext cx="292608" cy="29260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49440" y="529437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internal methodologies or software instructions</a:t>
            </a:r>
            <a:endParaRPr lang="en-US" sz="1200" dirty="0"/>
          </a:p>
        </p:txBody>
      </p:sp>
      <p:sp>
        <p:nvSpPr>
          <p:cNvPr id="25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24128"/>
            <a:ext cx="54864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categories of tools and techniques typically associated with this kind of analytical work in the industry: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1B1B1B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2377440"/>
            <a:ext cx="640080" cy="64008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7" name="Image 0" descr="icons_too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0589" y="254386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4612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Spreadsheet-based analysis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931920"/>
            <a:ext cx="177393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Organizing, cleaning, sorting, filtering and pivot-table summarization.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25496" y="210312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9584" y="2377440"/>
            <a:ext cx="640080" cy="64008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12" name="Image 1" descr="icons_tool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005" y="25438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2656" y="324612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62656" y="3931920"/>
            <a:ext cx="177393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processed data into charts, graphs and dashboards.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10912" y="210312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1B1B1B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15000" y="2377440"/>
            <a:ext cx="640080" cy="64008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17" name="Image 2" descr="icons_tool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421" y="254386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48072" y="324612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148072" y="3931920"/>
            <a:ext cx="177393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missing values, removing duplicates, standardizing formats.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196328" y="210312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900416" y="2377440"/>
            <a:ext cx="640080" cy="64008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22" name="Image 3" descr="icons_tool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837" y="254386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33488" y="324612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reasoning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333488" y="3931920"/>
            <a:ext cx="177393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identification, category comparison, and outlier detection.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381744" y="2103120"/>
            <a:ext cx="2048256" cy="3566160"/>
          </a:xfrm>
          <a:prstGeom prst="roundRect">
            <a:avLst>
              <a:gd name="adj" fmla="val 3571"/>
            </a:avLst>
          </a:prstGeom>
          <a:solidFill>
            <a:srgbClr val="1B1B1B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085832" y="2377440"/>
            <a:ext cx="640080" cy="64008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27" name="Image 4" descr="icons_tool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2253" y="254386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18904" y="324612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reporting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518904" y="3931920"/>
            <a:ext cx="177393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findings clearly for stakeholders using summaries and visuals.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24128"/>
            <a:ext cx="54864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logical, generalized workflow representing how a data analytics and forensic review process typically flows from raw input to communicated output.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" y="2377440"/>
            <a:ext cx="1691640" cy="3200400"/>
          </a:xfrm>
          <a:prstGeom prst="roundRect">
            <a:avLst>
              <a:gd name="adj" fmla="val 4324"/>
            </a:avLst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9012" y="2606040"/>
            <a:ext cx="566928" cy="566928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7" name="Image 0" descr="icons_arch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413" y="27534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33756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Inputs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8096" y="388620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information is gathered from operational systems or records.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 rot="5400000">
            <a:off x="2372868" y="3493008"/>
            <a:ext cx="128016" cy="146304"/>
          </a:xfrm>
          <a:prstGeom prst="triangle">
            <a:avLst/>
          </a:prstGeom>
          <a:solidFill>
            <a:srgbClr val="86BC25"/>
          </a:solidFill>
          <a:ln/>
        </p:spPr>
      </p:sp>
      <p:sp>
        <p:nvSpPr>
          <p:cNvPr id="11" name="Shape 8"/>
          <p:cNvSpPr/>
          <p:nvPr/>
        </p:nvSpPr>
        <p:spPr>
          <a:xfrm>
            <a:off x="2505456" y="2377440"/>
            <a:ext cx="1691640" cy="3200400"/>
          </a:xfrm>
          <a:prstGeom prst="roundRect">
            <a:avLst>
              <a:gd name="adj" fmla="val 4324"/>
            </a:avLst>
          </a:prstGeom>
          <a:solidFill>
            <a:srgbClr val="2B2B2B"/>
          </a:solidFill>
          <a:ln/>
        </p:spPr>
      </p:sp>
      <p:sp>
        <p:nvSpPr>
          <p:cNvPr id="12" name="Shape 9"/>
          <p:cNvSpPr/>
          <p:nvPr/>
        </p:nvSpPr>
        <p:spPr>
          <a:xfrm>
            <a:off x="3067812" y="2606040"/>
            <a:ext cx="566928" cy="566928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13" name="Image 1" descr="icons_arch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213" y="275344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78608" y="333756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596896" y="388620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for completeness; cleaning applied where necessary.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 rot="5400000">
            <a:off x="4201668" y="3493008"/>
            <a:ext cx="128016" cy="146304"/>
          </a:xfrm>
          <a:prstGeom prst="triangle">
            <a:avLst/>
          </a:prstGeom>
          <a:solidFill>
            <a:srgbClr val="86BC25"/>
          </a:solidFill>
          <a:ln/>
        </p:spPr>
      </p:sp>
      <p:sp>
        <p:nvSpPr>
          <p:cNvPr id="17" name="Shape 13"/>
          <p:cNvSpPr/>
          <p:nvPr/>
        </p:nvSpPr>
        <p:spPr>
          <a:xfrm>
            <a:off x="4334256" y="2377440"/>
            <a:ext cx="1691640" cy="3200400"/>
          </a:xfrm>
          <a:prstGeom prst="roundRect">
            <a:avLst>
              <a:gd name="adj" fmla="val 4324"/>
            </a:avLst>
          </a:prstGeom>
          <a:solidFill>
            <a:srgbClr val="2B2B2B"/>
          </a:solidFill>
          <a:ln/>
        </p:spPr>
      </p:sp>
      <p:sp>
        <p:nvSpPr>
          <p:cNvPr id="18" name="Shape 14"/>
          <p:cNvSpPr/>
          <p:nvPr/>
        </p:nvSpPr>
        <p:spPr>
          <a:xfrm>
            <a:off x="4896612" y="2606040"/>
            <a:ext cx="566928" cy="566928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19" name="Image 2" descr="icons_arch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013" y="2753441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07408" y="333756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425696" y="388620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techniques identify patterns and relationships.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 rot="5400000">
            <a:off x="6030468" y="3493008"/>
            <a:ext cx="128016" cy="146304"/>
          </a:xfrm>
          <a:prstGeom prst="triangle">
            <a:avLst/>
          </a:prstGeom>
          <a:solidFill>
            <a:srgbClr val="86BC25"/>
          </a:solidFill>
          <a:ln/>
        </p:spPr>
      </p:sp>
      <p:sp>
        <p:nvSpPr>
          <p:cNvPr id="23" name="Shape 18"/>
          <p:cNvSpPr/>
          <p:nvPr/>
        </p:nvSpPr>
        <p:spPr>
          <a:xfrm>
            <a:off x="6163056" y="2377440"/>
            <a:ext cx="1691640" cy="3200400"/>
          </a:xfrm>
          <a:prstGeom prst="roundRect">
            <a:avLst>
              <a:gd name="adj" fmla="val 4324"/>
            </a:avLst>
          </a:prstGeom>
          <a:solidFill>
            <a:srgbClr val="2B2B2B"/>
          </a:solidFill>
          <a:ln/>
        </p:spPr>
      </p:sp>
      <p:sp>
        <p:nvSpPr>
          <p:cNvPr id="24" name="Shape 19"/>
          <p:cNvSpPr/>
          <p:nvPr/>
        </p:nvSpPr>
        <p:spPr>
          <a:xfrm>
            <a:off x="6725412" y="2606040"/>
            <a:ext cx="566928" cy="566928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25" name="Image 3" descr="icons_arch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813" y="2753441"/>
            <a:ext cx="272125" cy="27212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36208" y="333756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 Review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254496" y="388620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Scrutiny-driven review flags irregularities or deviations.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 rot="5400000">
            <a:off x="7859268" y="3493008"/>
            <a:ext cx="128016" cy="146304"/>
          </a:xfrm>
          <a:prstGeom prst="triangle">
            <a:avLst/>
          </a:prstGeom>
          <a:solidFill>
            <a:srgbClr val="86BC25"/>
          </a:solidFill>
          <a:ln/>
        </p:spPr>
      </p:sp>
      <p:sp>
        <p:nvSpPr>
          <p:cNvPr id="29" name="Shape 23"/>
          <p:cNvSpPr/>
          <p:nvPr/>
        </p:nvSpPr>
        <p:spPr>
          <a:xfrm>
            <a:off x="7991856" y="2377440"/>
            <a:ext cx="1691640" cy="3200400"/>
          </a:xfrm>
          <a:prstGeom prst="roundRect">
            <a:avLst>
              <a:gd name="adj" fmla="val 4324"/>
            </a:avLst>
          </a:prstGeom>
          <a:solidFill>
            <a:srgbClr val="2B2B2B"/>
          </a:solidFill>
          <a:ln/>
        </p:spPr>
      </p:sp>
      <p:sp>
        <p:nvSpPr>
          <p:cNvPr id="30" name="Shape 24"/>
          <p:cNvSpPr/>
          <p:nvPr/>
        </p:nvSpPr>
        <p:spPr>
          <a:xfrm>
            <a:off x="8554212" y="2606040"/>
            <a:ext cx="566928" cy="566928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31" name="Image 4" descr="icons_arch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1613" y="2753441"/>
            <a:ext cx="272125" cy="27212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065008" y="333756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8083296" y="388620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interpreted into meaningful conclusions.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 rot="5400000">
            <a:off x="9688068" y="3493008"/>
            <a:ext cx="128016" cy="146304"/>
          </a:xfrm>
          <a:prstGeom prst="triangle">
            <a:avLst/>
          </a:prstGeom>
          <a:solidFill>
            <a:srgbClr val="86BC25"/>
          </a:solidFill>
          <a:ln/>
        </p:spPr>
      </p:sp>
      <p:sp>
        <p:nvSpPr>
          <p:cNvPr id="35" name="Shape 28"/>
          <p:cNvSpPr/>
          <p:nvPr/>
        </p:nvSpPr>
        <p:spPr>
          <a:xfrm>
            <a:off x="9820656" y="2377440"/>
            <a:ext cx="1691640" cy="3200400"/>
          </a:xfrm>
          <a:prstGeom prst="roundRect">
            <a:avLst>
              <a:gd name="adj" fmla="val 4324"/>
            </a:avLst>
          </a:prstGeom>
          <a:solidFill>
            <a:srgbClr val="2B2B2B"/>
          </a:solidFill>
          <a:ln/>
        </p:spPr>
      </p:sp>
      <p:sp>
        <p:nvSpPr>
          <p:cNvPr id="36" name="Shape 29"/>
          <p:cNvSpPr/>
          <p:nvPr/>
        </p:nvSpPr>
        <p:spPr>
          <a:xfrm>
            <a:off x="10383012" y="2606040"/>
            <a:ext cx="566928" cy="566928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37" name="Image 5" descr="icons_arch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0413" y="2753441"/>
            <a:ext cx="272125" cy="272125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893808" y="3337560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9912096" y="3886200"/>
            <a:ext cx="1508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documented for a non-technical audience.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24128"/>
            <a:ext cx="54864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generalized, logical workflow applicable to analytical tasks of this nature — described as a general best-practice approach.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30552"/>
            <a:ext cx="502920" cy="50292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0574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Task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2404872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reviewing the objective of each task area before proceeding.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00984"/>
            <a:ext cx="502920" cy="50292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22783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Reviewing Information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80160" y="3575304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material and instructions reviewed to build context.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471416"/>
            <a:ext cx="502920" cy="50292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71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39826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80160" y="4745736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organized and checked for consistency and usability.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641848"/>
            <a:ext cx="502920" cy="50292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641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56869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80160" y="5916168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techniques applied to examine data systematically.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130552"/>
            <a:ext cx="502920" cy="50292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205740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/ Forensic Review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903720" y="2404872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Detailed, scrutiny-based review to identify irregularities.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300984"/>
            <a:ext cx="502920" cy="50292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3720" y="322783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903720" y="3575304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interpreted to draw meaningful, task-relevant conclusions.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471416"/>
            <a:ext cx="502920" cy="502920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4471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03720" y="439826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903720" y="4745736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structured and presented clearly to stakeholders.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24128"/>
            <a:ext cx="548640" cy="54864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identified from this learning experience: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66544"/>
            <a:ext cx="548640" cy="54864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7" name="Image 0" descr="icons_o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09190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11680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data 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0" y="201168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clearer sense of how raw information becomes actionable insight.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862072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962656"/>
            <a:ext cx="548640" cy="54864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12" name="Image 1" descr="icons_ou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3105302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9077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Forensic technology exposure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0" y="2907792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understanding of scrutiny-based analytical review.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758184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3858768"/>
            <a:ext cx="548640" cy="54864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17" name="Image 2" descr="icons_out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001414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803904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Strengthened analytical thinking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029200" y="3803904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breaking a broad task into a logical sequence of steps.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4654296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22960" y="4754880"/>
            <a:ext cx="548640" cy="54864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22" name="Image 3" descr="icons_out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89752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700016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communication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0" y="4700016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Appreciation for presenting findings clearly to a business audience.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5550408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E4E4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5650992"/>
            <a:ext cx="548640" cy="54864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27" name="Image 4" descr="icons_out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5793638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00200" y="559612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to career goals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029200" y="5596128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 structured problem-solving for SDE and analytics-adjacent roles.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572000"/>
            <a:ext cx="3840480" cy="3840480"/>
          </a:xfrm>
          <a:prstGeom prst="ellipse">
            <a:avLst/>
          </a:prstGeom>
          <a:solidFill>
            <a:srgbClr val="2B2B2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86BC25"/>
          </a:solidFill>
          <a:ln/>
        </p:spPr>
      </p:sp>
      <p:pic>
        <p:nvPicPr>
          <p:cNvPr id="5" name="Image 0" descr="icons_c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28800" y="137160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Data Analytics Job Simulation, issued May 28, 2026, signed by Tina McCreery, Chief Human Resources Officer, Deloitte.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documented the general understanding, workflow, and professional context gained through a guided, self-paced simulation — covering conceptual and procedural learning across data analysis and forensic technology, without relying on any confidential client data.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Bibliography / References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Deloitte. Official Website. www2.deloitte.com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50017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Forage. Virtual Job Simulations — Deloitte. theforage.com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538581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Deloitte Data Analytics Job Simulation — Certificate of Completion, issued to Rajat Kumar, May 28, 2026.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Rajat Kumar   |   IILM University, Greater Noida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2026-09-02T18:16:23Z</dcterms:created>
  <dcterms:modified xsi:type="dcterms:W3CDTF">2026-09-02T18:16:23Z</dcterms:modified>
</cp:coreProperties>
</file>